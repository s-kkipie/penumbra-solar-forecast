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eac2a7e-76c6-6e63-a5f3-70acceb0b6fa}">
          <p14:sldIdLst>
            <p14:sldId id="256"/>
          </p14:sldIdLst>
        </p14:section>
        <p14:section name="Problem" id="{9578002f-a2f7-e348-85f7-21ddb96996e6}">
          <p14:sldIdLst>
            <p14:sldId id="257"/>
          </p14:sldIdLst>
        </p14:section>
        <p14:section name="Solution" id="{0edd3e59-55ee-85ef-3104-47c5061401b0}">
          <p14:sldIdLst>
            <p14:sldId id="258"/>
          </p14:sldIdLst>
        </p14:section>
        <p14:section name="Data &amp; method" id="{eb757f6d-a007-04d4-0bbd-c391d78e21e4}">
          <p14:sldIdLst>
            <p14:sldId id="259"/>
            <p14:sldId id="260"/>
          </p14:sldIdLst>
        </p14:section>
        <p14:section name="Results" id="{5ebb4526-1bd9-6253-39e7-3eac7f387d36}">
          <p14:sldIdLst>
            <p14:sldId id="261"/>
            <p14:sldId id="262"/>
            <p14:sldId id="263"/>
          </p14:sldIdLst>
        </p14:section>
        <p14:section name="Impact" id="{440db8e3-acc0-5fa4-1c8a-59e32afb2fc0}">
          <p14:sldIdLst>
            <p14:sldId id="264"/>
            <p14:sldId id="265"/>
          </p14:sldIdLst>
        </p14:section>
        <p14:section name="Demo" id="{5cc853cb-ab01-2ce8-55da-16e6727397c7}">
          <p14:sldIdLst>
            <p14:sldId id="266"/>
          </p14:sldIdLst>
        </p14:section>
        <p14:section name="Close" id="{51d08898-88d3-75e4-0c21-f55d0098b92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31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B313A"/>
                </a:solidFill>
                <a:latin typeface="+mn-lt"/>
              </a:rPr>
              <a:t>nMAE, % of installed capacity (strict, 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nMAE strict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31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Persistence (D-2)</c:v>
                  </c:pt>
                  <c:pt idx="1">
                    <c:v>Climatology</c:v>
                  </c:pt>
                  <c:pt idx="2">
                    <c:v>Linear NWP</c:v>
                  </c:pt>
                  <c:pt idx="3">
                    <c:v>Penumbra weather-only</c:v>
                  </c:pt>
                  <c:pt idx="4">
                    <c:v>Penumbra Hybrid</c:v>
                  </c:pt>
                  <c:pt idx="5">
                    <c:v>Elia D-1 11h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7.76</c:v>
                </c:pt>
                <c:pt idx="1">
                  <c:v>7.3</c:v>
                </c:pt>
                <c:pt idx="2">
                  <c:v>4.26</c:v>
                </c:pt>
                <c:pt idx="3">
                  <c:v>3.5</c:v>
                </c:pt>
                <c:pt idx="4">
                  <c:v>2.88</c:v>
                </c:pt>
                <c:pt idx="5">
                  <c:v>2.87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B31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31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B313A"/>
                </a:solidFill>
                <a:latin typeface="+mn-lt"/>
              </a:rPr>
              <a:t>% of hours inside the 80 % band (target 80 %)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Elia P10–P90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31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overcast</c:v>
                  </c:pt>
                  <c:pt idx="1">
                    <c:v>variable</c:v>
                  </c:pt>
                  <c:pt idx="2">
                    <c:v>clear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62.3</c:v>
                </c:pt>
                <c:pt idx="1">
                  <c:v>85.4</c:v>
                </c:pt>
                <c:pt idx="2">
                  <c:v>80.9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Penumbra Hybrid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31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overcast</c:v>
                  </c:pt>
                  <c:pt idx="1">
                    <c:v>variable</c:v>
                  </c:pt>
                  <c:pt idx="2">
                    <c:v>clear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89.3</c:v>
                </c:pt>
                <c:pt idx="1">
                  <c:v>80.8</c:v>
                </c:pt>
                <c:pt idx="2">
                  <c:v>80.2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2B31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31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31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B313A"/>
                </a:solidFill>
                <a:latin typeface="+mn-lt"/>
              </a:rPr>
              <a:t>Point error is equal: nMAE by regime, % of capacity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Elia D-1 11h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31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overcast</c:v>
                  </c:pt>
                  <c:pt idx="1">
                    <c:v>variable</c:v>
                  </c:pt>
                  <c:pt idx="2">
                    <c:v>clear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1.11</c:v>
                </c:pt>
                <c:pt idx="1">
                  <c:v>3.29</c:v>
                </c:pt>
                <c:pt idx="2">
                  <c:v>2.99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Penumbra Hybrid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31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overcast</c:v>
                  </c:pt>
                  <c:pt idx="1">
                    <c:v>variable</c:v>
                  </c:pt>
                  <c:pt idx="2">
                    <c:v>clear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1.11</c:v>
                </c:pt>
                <c:pt idx="1">
                  <c:v>3.29</c:v>
                </c:pt>
                <c:pt idx="2">
                  <c:v>2.99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B31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31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31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B313A"/>
                </a:solidFill>
                <a:latin typeface="+mn-lt"/>
              </a:rPr>
              <a:t>Monthly nMAE, % of capacity (strict)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Elia D-1 11h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2025-04</c:v>
                  </c:pt>
                  <c:pt idx="1">
                    <c:v>2025-05</c:v>
                  </c:pt>
                  <c:pt idx="2">
                    <c:v>2025-06</c:v>
                  </c:pt>
                  <c:pt idx="3">
                    <c:v>2025-07</c:v>
                  </c:pt>
                  <c:pt idx="4">
                    <c:v>2025-08</c:v>
                  </c:pt>
                  <c:pt idx="5">
                    <c:v>2025-09</c:v>
                  </c:pt>
                  <c:pt idx="6">
                    <c:v>2025-10</c:v>
                  </c:pt>
                  <c:pt idx="7">
                    <c:v>2025-11</c:v>
                  </c:pt>
                  <c:pt idx="8">
                    <c:v>2025-12</c:v>
                  </c:pt>
                  <c:pt idx="9">
                    <c:v>2026-01</c:v>
                  </c:pt>
                  <c:pt idx="10">
                    <c:v>2026-02</c:v>
                  </c:pt>
                  <c:pt idx="11">
                    <c:v>2026-03</c:v>
                  </c:pt>
                  <c:pt idx="12">
                    <c:v>2026-04</c:v>
                  </c:pt>
                  <c:pt idx="13">
                    <c:v>2026-05</c:v>
                  </c:pt>
                  <c:pt idx="14">
                    <c:v>2026-06</c:v>
                  </c:pt>
                  <c:pt idx="15">
                    <c:v>2026-07</c:v>
                  </c:pt>
                  <c:pt idx="16">
                    <c:v>2026-08</c:v>
                  </c:pt>
                  <c:pt idx="17">
                    <c:v>2026-09</c:v>
                  </c:pt>
                  <c:pt idx="18">
                    <c:v>2026-10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3.38</c:v>
                </c:pt>
                <c:pt idx="1">
                  <c:v>2.97</c:v>
                </c:pt>
                <c:pt idx="2">
                  <c:v>2.46</c:v>
                </c:pt>
                <c:pt idx="3">
                  <c:v>2.64</c:v>
                </c:pt>
                <c:pt idx="4">
                  <c:v>3.28</c:v>
                </c:pt>
                <c:pt idx="5">
                  <c:v>3.66</c:v>
                </c:pt>
                <c:pt idx="6">
                  <c:v>3.11</c:v>
                </c:pt>
                <c:pt idx="7">
                  <c:v>2.29</c:v>
                </c:pt>
                <c:pt idx="8">
                  <c:v>2.25</c:v>
                </c:pt>
                <c:pt idx="9">
                  <c:v>2.36</c:v>
                </c:pt>
                <c:pt idx="10">
                  <c:v>2.9</c:v>
                </c:pt>
                <c:pt idx="11">
                  <c:v>2.87</c:v>
                </c:pt>
                <c:pt idx="12">
                  <c:v>3.34</c:v>
                </c:pt>
                <c:pt idx="13">
                  <c:v>2.77</c:v>
                </c:pt>
                <c:pt idx="14">
                  <c:v>2.75</c:v>
                </c:pt>
                <c:pt idx="15">
                  <c:v>2.33</c:v>
                </c:pt>
                <c:pt idx="16">
                  <c:v>3.01</c:v>
                </c:pt>
                <c:pt idx="17">
                  <c:v>2.83</c:v>
                </c:pt>
                <c:pt idx="18">
                  <c:v>3.19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Penumbra weather-only</c:v>
                </c:pt>
              </c:strCache>
            </c:strRef>
          </c:tx>
          <c:spPr>
            <a:solidFill>
              <a:srgbClr val="1BAF7A"/>
            </a:solidFill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2025-04</c:v>
                  </c:pt>
                  <c:pt idx="1">
                    <c:v>2025-05</c:v>
                  </c:pt>
                  <c:pt idx="2">
                    <c:v>2025-06</c:v>
                  </c:pt>
                  <c:pt idx="3">
                    <c:v>2025-07</c:v>
                  </c:pt>
                  <c:pt idx="4">
                    <c:v>2025-08</c:v>
                  </c:pt>
                  <c:pt idx="5">
                    <c:v>2025-09</c:v>
                  </c:pt>
                  <c:pt idx="6">
                    <c:v>2025-10</c:v>
                  </c:pt>
                  <c:pt idx="7">
                    <c:v>2025-11</c:v>
                  </c:pt>
                  <c:pt idx="8">
                    <c:v>2025-12</c:v>
                  </c:pt>
                  <c:pt idx="9">
                    <c:v>2026-01</c:v>
                  </c:pt>
                  <c:pt idx="10">
                    <c:v>2026-02</c:v>
                  </c:pt>
                  <c:pt idx="11">
                    <c:v>2026-03</c:v>
                  </c:pt>
                  <c:pt idx="12">
                    <c:v>2026-04</c:v>
                  </c:pt>
                  <c:pt idx="13">
                    <c:v>2026-05</c:v>
                  </c:pt>
                  <c:pt idx="14">
                    <c:v>2026-06</c:v>
                  </c:pt>
                  <c:pt idx="15">
                    <c:v>2026-07</c:v>
                  </c:pt>
                  <c:pt idx="16">
                    <c:v>2026-08</c:v>
                  </c:pt>
                  <c:pt idx="17">
                    <c:v>2026-09</c:v>
                  </c:pt>
                  <c:pt idx="18">
                    <c:v>2026-10</c:v>
                  </c:pt>
                </c:lvl>
              </c:multiLvlStrCache>
            </c:multiLvl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3.73</c:v>
                </c:pt>
                <c:pt idx="1">
                  <c:v>6.09</c:v>
                </c:pt>
                <c:pt idx="2">
                  <c:v>4.45</c:v>
                </c:pt>
                <c:pt idx="3">
                  <c:v>3.36</c:v>
                </c:pt>
                <c:pt idx="4">
                  <c:v>3.77</c:v>
                </c:pt>
                <c:pt idx="5">
                  <c:v>4.17</c:v>
                </c:pt>
                <c:pt idx="6">
                  <c:v>3.55</c:v>
                </c:pt>
                <c:pt idx="7">
                  <c:v>2.6</c:v>
                </c:pt>
                <c:pt idx="8">
                  <c:v>2.43</c:v>
                </c:pt>
                <c:pt idx="9">
                  <c:v>2.67</c:v>
                </c:pt>
                <c:pt idx="10">
                  <c:v>2.83</c:v>
                </c:pt>
                <c:pt idx="11">
                  <c:v>3.35</c:v>
                </c:pt>
                <c:pt idx="12">
                  <c:v>3.92</c:v>
                </c:pt>
                <c:pt idx="13">
                  <c:v>2.94</c:v>
                </c:pt>
                <c:pt idx="14">
                  <c:v>2.99</c:v>
                </c:pt>
                <c:pt idx="15">
                  <c:v>2.43</c:v>
                </c:pt>
                <c:pt idx="16">
                  <c:v>3.2</c:v>
                </c:pt>
                <c:pt idx="17">
                  <c:v>3.12</c:v>
                </c:pt>
                <c:pt idx="18">
                  <c:v>3.49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Penumbra Hybrid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2025-04</c:v>
                  </c:pt>
                  <c:pt idx="1">
                    <c:v>2025-05</c:v>
                  </c:pt>
                  <c:pt idx="2">
                    <c:v>2025-06</c:v>
                  </c:pt>
                  <c:pt idx="3">
                    <c:v>2025-07</c:v>
                  </c:pt>
                  <c:pt idx="4">
                    <c:v>2025-08</c:v>
                  </c:pt>
                  <c:pt idx="5">
                    <c:v>2025-09</c:v>
                  </c:pt>
                  <c:pt idx="6">
                    <c:v>2025-10</c:v>
                  </c:pt>
                  <c:pt idx="7">
                    <c:v>2025-11</c:v>
                  </c:pt>
                  <c:pt idx="8">
                    <c:v>2025-12</c:v>
                  </c:pt>
                  <c:pt idx="9">
                    <c:v>2026-01</c:v>
                  </c:pt>
                  <c:pt idx="10">
                    <c:v>2026-02</c:v>
                  </c:pt>
                  <c:pt idx="11">
                    <c:v>2026-03</c:v>
                  </c:pt>
                  <c:pt idx="12">
                    <c:v>2026-04</c:v>
                  </c:pt>
                  <c:pt idx="13">
                    <c:v>2026-05</c:v>
                  </c:pt>
                  <c:pt idx="14">
                    <c:v>2026-06</c:v>
                  </c:pt>
                  <c:pt idx="15">
                    <c:v>2026-07</c:v>
                  </c:pt>
                  <c:pt idx="16">
                    <c:v>2026-08</c:v>
                  </c:pt>
                  <c:pt idx="17">
                    <c:v>2026-09</c:v>
                  </c:pt>
                  <c:pt idx="18">
                    <c:v>2026-10</c:v>
                  </c:pt>
                </c:lvl>
              </c:multiLvlStrCache>
            </c:multiLvl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3.34</c:v>
                </c:pt>
                <c:pt idx="1">
                  <c:v>3.52</c:v>
                </c:pt>
                <c:pt idx="2">
                  <c:v>2.36</c:v>
                </c:pt>
                <c:pt idx="3">
                  <c:v>2.68</c:v>
                </c:pt>
                <c:pt idx="4">
                  <c:v>3.41</c:v>
                </c:pt>
                <c:pt idx="5">
                  <c:v>4.03</c:v>
                </c:pt>
                <c:pt idx="6">
                  <c:v>2.81</c:v>
                </c:pt>
                <c:pt idx="7">
                  <c:v>2.43</c:v>
                </c:pt>
                <c:pt idx="8">
                  <c:v>2.17</c:v>
                </c:pt>
                <c:pt idx="9">
                  <c:v>2.4</c:v>
                </c:pt>
                <c:pt idx="10">
                  <c:v>2.71</c:v>
                </c:pt>
                <c:pt idx="11">
                  <c:v>3.29</c:v>
                </c:pt>
                <c:pt idx="12">
                  <c:v>3.42</c:v>
                </c:pt>
                <c:pt idx="13">
                  <c:v>2.58</c:v>
                </c:pt>
                <c:pt idx="14">
                  <c:v>2.59</c:v>
                </c:pt>
                <c:pt idx="15">
                  <c:v>2.2</c:v>
                </c:pt>
                <c:pt idx="16">
                  <c:v>2.88</c:v>
                </c:pt>
                <c:pt idx="17">
                  <c:v>2.82</c:v>
                </c:pt>
                <c:pt idx="18">
                  <c:v>2.67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31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31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B313A"/>
                </a:solidFill>
                <a:latin typeface="+mn-lt"/>
              </a:rPr>
              <a:t>Example: 2026-10-15 (largest gain vs Elia), MW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P10</c:v>
                </c:pt>
              </c:strCache>
            </c:strRef>
          </c:tx>
          <c:spPr>
            <a:solidFill>
              <a:srgbClr val="BBD3F2"/>
            </a:solidFill>
            <a:ln w="25400" cap="flat">
              <a:solidFill>
                <a:srgbClr val="BBD3F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BD3F2"/>
              </a:solidFill>
              <a:ln w="9525" cap="flat">
                <a:solidFill>
                  <a:srgbClr val="BBD3F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07:00</c:v>
                  </c:pt>
                  <c:pt idx="1">
                    <c:v>08:00</c:v>
                  </c:pt>
                  <c:pt idx="2">
                    <c:v>09:00</c:v>
                  </c:pt>
                  <c:pt idx="3">
                    <c:v>10:00</c:v>
                  </c:pt>
                  <c:pt idx="4">
                    <c:v>11:00</c:v>
                  </c:pt>
                  <c:pt idx="5">
                    <c:v>12:00</c:v>
                  </c:pt>
                  <c:pt idx="6">
                    <c:v>13:00</c:v>
                  </c:pt>
                  <c:pt idx="7">
                    <c:v>14:00</c:v>
                  </c:pt>
                  <c:pt idx="8">
                    <c:v>15:00</c:v>
                  </c:pt>
                  <c:pt idx="9">
                    <c:v>16:00</c:v>
                  </c:pt>
                  <c:pt idx="10">
                    <c:v>17:00</c:v>
                  </c:pt>
                  <c:pt idx="11">
                    <c:v>18:00</c:v>
                  </c:pt>
                  <c:pt idx="12">
                    <c:v>19:00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182</c:v>
                </c:pt>
                <c:pt idx="2">
                  <c:v>1087</c:v>
                </c:pt>
                <c:pt idx="3">
                  <c:v>2295</c:v>
                </c:pt>
                <c:pt idx="4">
                  <c:v>3272</c:v>
                </c:pt>
                <c:pt idx="5">
                  <c:v>3870</c:v>
                </c:pt>
                <c:pt idx="6">
                  <c:v>4226</c:v>
                </c:pt>
                <c:pt idx="7">
                  <c:v>4103</c:v>
                </c:pt>
                <c:pt idx="8">
                  <c:v>3250</c:v>
                </c:pt>
                <c:pt idx="9">
                  <c:v>1954</c:v>
                </c:pt>
                <c:pt idx="10">
                  <c:v>728</c:v>
                </c:pt>
                <c:pt idx="11">
                  <c:v>99</c:v>
                </c:pt>
                <c:pt idx="12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P90</c:v>
                </c:pt>
              </c:strCache>
            </c:strRef>
          </c:tx>
          <c:spPr>
            <a:solidFill>
              <a:srgbClr val="BBD3F2"/>
            </a:solidFill>
            <a:ln w="25400" cap="flat">
              <a:solidFill>
                <a:srgbClr val="BBD3F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BD3F2"/>
              </a:solidFill>
              <a:ln w="9525" cap="flat">
                <a:solidFill>
                  <a:srgbClr val="BBD3F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07:00</c:v>
                  </c:pt>
                  <c:pt idx="1">
                    <c:v>08:00</c:v>
                  </c:pt>
                  <c:pt idx="2">
                    <c:v>09:00</c:v>
                  </c:pt>
                  <c:pt idx="3">
                    <c:v>10:00</c:v>
                  </c:pt>
                  <c:pt idx="4">
                    <c:v>11:00</c:v>
                  </c:pt>
                  <c:pt idx="5">
                    <c:v>12:00</c:v>
                  </c:pt>
                  <c:pt idx="6">
                    <c:v>13:00</c:v>
                  </c:pt>
                  <c:pt idx="7">
                    <c:v>14:00</c:v>
                  </c:pt>
                  <c:pt idx="8">
                    <c:v>15:00</c:v>
                  </c:pt>
                  <c:pt idx="9">
                    <c:v>16:00</c:v>
                  </c:pt>
                  <c:pt idx="10">
                    <c:v>17:00</c:v>
                  </c:pt>
                  <c:pt idx="11">
                    <c:v>18:00</c:v>
                  </c:pt>
                  <c:pt idx="12">
                    <c:v>19:00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356</c:v>
                </c:pt>
                <c:pt idx="2">
                  <c:v>2053</c:v>
                </c:pt>
                <c:pt idx="3">
                  <c:v>3873</c:v>
                </c:pt>
                <c:pt idx="4">
                  <c:v>5133</c:v>
                </c:pt>
                <c:pt idx="5">
                  <c:v>5669</c:v>
                </c:pt>
                <c:pt idx="6">
                  <c:v>6069</c:v>
                </c:pt>
                <c:pt idx="7">
                  <c:v>5867</c:v>
                </c:pt>
                <c:pt idx="8">
                  <c:v>5127</c:v>
                </c:pt>
                <c:pt idx="9">
                  <c:v>3392</c:v>
                </c:pt>
                <c:pt idx="10">
                  <c:v>1683</c:v>
                </c:pt>
                <c:pt idx="11">
                  <c:v>244</c:v>
                </c:pt>
                <c:pt idx="12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Hybrid P50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07:00</c:v>
                  </c:pt>
                  <c:pt idx="1">
                    <c:v>08:00</c:v>
                  </c:pt>
                  <c:pt idx="2">
                    <c:v>09:00</c:v>
                  </c:pt>
                  <c:pt idx="3">
                    <c:v>10:00</c:v>
                  </c:pt>
                  <c:pt idx="4">
                    <c:v>11:00</c:v>
                  </c:pt>
                  <c:pt idx="5">
                    <c:v>12:00</c:v>
                  </c:pt>
                  <c:pt idx="6">
                    <c:v>13:00</c:v>
                  </c:pt>
                  <c:pt idx="7">
                    <c:v>14:00</c:v>
                  </c:pt>
                  <c:pt idx="8">
                    <c:v>15:00</c:v>
                  </c:pt>
                  <c:pt idx="9">
                    <c:v>16:00</c:v>
                  </c:pt>
                  <c:pt idx="10">
                    <c:v>17:00</c:v>
                  </c:pt>
                  <c:pt idx="11">
                    <c:v>18:00</c:v>
                  </c:pt>
                  <c:pt idx="12">
                    <c:v>19:00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275</c:v>
                </c:pt>
                <c:pt idx="2">
                  <c:v>1475</c:v>
                </c:pt>
                <c:pt idx="3">
                  <c:v>2940</c:v>
                </c:pt>
                <c:pt idx="4">
                  <c:v>3960</c:v>
                </c:pt>
                <c:pt idx="5">
                  <c:v>4591</c:v>
                </c:pt>
                <c:pt idx="6">
                  <c:v>5033</c:v>
                </c:pt>
                <c:pt idx="7">
                  <c:v>4823</c:v>
                </c:pt>
                <c:pt idx="8">
                  <c:v>3947</c:v>
                </c:pt>
                <c:pt idx="9">
                  <c:v>2537</c:v>
                </c:pt>
                <c:pt idx="10">
                  <c:v>1092</c:v>
                </c:pt>
                <c:pt idx="11">
                  <c:v>105</c:v>
                </c:pt>
                <c:pt idx="12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Elia D-1 11h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07:00</c:v>
                  </c:pt>
                  <c:pt idx="1">
                    <c:v>08:00</c:v>
                  </c:pt>
                  <c:pt idx="2">
                    <c:v>09:00</c:v>
                  </c:pt>
                  <c:pt idx="3">
                    <c:v>10:00</c:v>
                  </c:pt>
                  <c:pt idx="4">
                    <c:v>11:00</c:v>
                  </c:pt>
                  <c:pt idx="5">
                    <c:v>12:00</c:v>
                  </c:pt>
                  <c:pt idx="6">
                    <c:v>13:00</c:v>
                  </c:pt>
                  <c:pt idx="7">
                    <c:v>14:00</c:v>
                  </c:pt>
                  <c:pt idx="8">
                    <c:v>15:00</c:v>
                  </c:pt>
                  <c:pt idx="9">
                    <c:v>16:00</c:v>
                  </c:pt>
                  <c:pt idx="10">
                    <c:v>17:00</c:v>
                  </c:pt>
                  <c:pt idx="11">
                    <c:v>18:00</c:v>
                  </c:pt>
                  <c:pt idx="12">
                    <c:v>19:00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322</c:v>
                </c:pt>
                <c:pt idx="2">
                  <c:v>1861</c:v>
                </c:pt>
                <c:pt idx="3">
                  <c:v>3525</c:v>
                </c:pt>
                <c:pt idx="4">
                  <c:v>4652</c:v>
                </c:pt>
                <c:pt idx="5">
                  <c:v>5341</c:v>
                </c:pt>
                <c:pt idx="6">
                  <c:v>5708</c:v>
                </c:pt>
                <c:pt idx="7">
                  <c:v>5525</c:v>
                </c:pt>
                <c:pt idx="8">
                  <c:v>4659</c:v>
                </c:pt>
                <c:pt idx="9">
                  <c:v>3246</c:v>
                </c:pt>
                <c:pt idx="10">
                  <c:v>1572</c:v>
                </c:pt>
                <c:pt idx="11">
                  <c:v>231</c:v>
                </c:pt>
                <c:pt idx="12">
                  <c:v>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Measured</c:v>
                </c:pt>
              </c:strCache>
            </c:strRef>
          </c:tx>
          <c:spPr>
            <a:solidFill>
              <a:srgbClr val="14171C"/>
            </a:solidFill>
            <a:ln w="25400" cap="flat">
              <a:solidFill>
                <a:srgbClr val="1417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4171C"/>
              </a:solidFill>
              <a:ln w="9525" cap="flat">
                <a:solidFill>
                  <a:srgbClr val="1417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07:00</c:v>
                  </c:pt>
                  <c:pt idx="1">
                    <c:v>08:00</c:v>
                  </c:pt>
                  <c:pt idx="2">
                    <c:v>09:00</c:v>
                  </c:pt>
                  <c:pt idx="3">
                    <c:v>10:00</c:v>
                  </c:pt>
                  <c:pt idx="4">
                    <c:v>11:00</c:v>
                  </c:pt>
                  <c:pt idx="5">
                    <c:v>12:00</c:v>
                  </c:pt>
                  <c:pt idx="6">
                    <c:v>13:00</c:v>
                  </c:pt>
                  <c:pt idx="7">
                    <c:v>14:00</c:v>
                  </c:pt>
                  <c:pt idx="8">
                    <c:v>15:00</c:v>
                  </c:pt>
                  <c:pt idx="9">
                    <c:v>16:00</c:v>
                  </c:pt>
                  <c:pt idx="10">
                    <c:v>17:00</c:v>
                  </c:pt>
                  <c:pt idx="11">
                    <c:v>18:00</c:v>
                  </c:pt>
                  <c:pt idx="12">
                    <c:v>19:00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238</c:v>
                </c:pt>
                <c:pt idx="2">
                  <c:v>1360</c:v>
                </c:pt>
                <c:pt idx="3">
                  <c:v>2453</c:v>
                </c:pt>
                <c:pt idx="4">
                  <c:v>3213</c:v>
                </c:pt>
                <c:pt idx="5">
                  <c:v>3445</c:v>
                </c:pt>
                <c:pt idx="6">
                  <c:v>3366</c:v>
                </c:pt>
                <c:pt idx="7">
                  <c:v>3218</c:v>
                </c:pt>
                <c:pt idx="8">
                  <c:v>3071</c:v>
                </c:pt>
                <c:pt idx="9">
                  <c:v>2270</c:v>
                </c:pt>
                <c:pt idx="10">
                  <c:v>1136</c:v>
                </c:pt>
                <c:pt idx="11">
                  <c:v>152</c:v>
                </c:pt>
                <c:pt idx="12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31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Penumbra forecasts tomorrow's Belgian solar output with calibrated uncertainty, and is scored against Elia's own operational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DN-SU-01: forecast solar generation from weather and plant data to support grid stability and renewable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96112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C9CED6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Penumbra · DataNova 2026 · DN-SU-01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skkippie.me/penumbra-solar-forecast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kkippie.me/penumbra-solar-forecast/" TargetMode="External"/><Relationship Id="rId3" Type="http://schemas.openxmlformats.org/officeDocument/2006/relationships/hyperlink" Target="https://github.com/S-kkipie/penumbra-solar-forecast" TargetMode="External"/><Relationship Id="rId1" Type="http://schemas.openxmlformats.org/officeDocument/2006/relationships/image" Target="../media/image-11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9611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Penumbra: day-ahead solar forecasts that know when they're unsure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CED6"/>
                </a:solidFill>
              </a:rPr>
              <a:t>Calibrated probabilistic forecasting for Belgium's 12.1 GW PV fleet, benchmarked against the grid operator — DataNova 2026 · Sustainability · DN-SU-01</a:t>
            </a:r>
            <a:endParaRPr lang="en-US" sz="1700" dirty="0"/>
          </a:p>
        </p:txBody>
      </p:sp>
      <p:sp>
        <p:nvSpPr>
          <p:cNvPr id="4" name="sun"/>
          <p:cNvSpPr/>
          <p:nvPr/>
        </p:nvSpPr>
        <p:spPr>
          <a:xfrm>
            <a:off x="9966960" y="914400"/>
            <a:ext cx="1645920" cy="164592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5" name="shadow disc"/>
          <p:cNvSpPr/>
          <p:nvPr/>
        </p:nvSpPr>
        <p:spPr>
          <a:xfrm>
            <a:off x="10561320" y="914400"/>
            <a:ext cx="1645920" cy="1645920"/>
          </a:xfrm>
          <a:prstGeom prst="ellipse">
            <a:avLst/>
          </a:prstGeom>
          <a:solidFill>
            <a:srgbClr val="14171C"/>
          </a:solidFill>
          <a:ln w="12700">
            <a:solidFill>
              <a:srgbClr val="1417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Issac Mamani Quispe · Arequipa, Peru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897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pPr indent="0" marL="0">
              <a:buNone/>
            </a:pPr>
            <a:r>
              <a:rPr lang="en-US" sz="1400" u="sng" dirty="0">
                <a:solidFill>
                  <a:srgbClr val="8AB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https://skkippie.me/penumbra-solar-forecast/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is now Belgium's largest day-ahead uncertainty</a:t>
            </a:r>
            <a:endParaRPr lang="en-US" sz="2600" dirty="0"/>
          </a:p>
        </p:txBody>
      </p:sp>
      <p:sp>
        <p:nvSpPr>
          <p:cNvPr id="3" name="stat installed PV, up from 9.1 GW"/>
          <p:cNvSpPr/>
          <p:nvPr/>
        </p:nvSpPr>
        <p:spPr>
          <a:xfrm>
            <a:off x="548640" y="13258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GW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756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PV, up from 9.1 GW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 monitored capacity, Apr 2024 → Oct 2026</a:t>
            </a:r>
            <a:endParaRPr lang="en-US" sz="1050" dirty="0"/>
          </a:p>
        </p:txBody>
      </p:sp>
      <p:sp>
        <p:nvSpPr>
          <p:cNvPr id="7" name="stat average hourly error of the TSO forecast"/>
          <p:cNvSpPr/>
          <p:nvPr/>
        </p:nvSpPr>
        <p:spPr>
          <a:xfrm>
            <a:off x="4251960" y="13258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463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335 MW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0756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hourly error of the TSO forecast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 D-1 11h, daylight hours, backtest period</a:t>
            </a:r>
            <a:endParaRPr lang="en-US" sz="1050" dirty="0"/>
          </a:p>
        </p:txBody>
      </p:sp>
      <p:sp>
        <p:nvSpPr>
          <p:cNvPr id="11" name="stat P99 shortfall to cover with reserve"/>
          <p:cNvSpPr/>
          <p:nvPr/>
        </p:nvSpPr>
        <p:spPr>
          <a:xfrm>
            <a:off x="7955280" y="13258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463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1,539 MW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20756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shortfall to cover with reserve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over-forecast, 99th percentile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46120"/>
            <a:ext cx="1109441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Day-ahead positions close at 12:00 on D-1: every MW of forecast error is bought back in balancing, mostly from gas plants.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forecasts hide how sure they are. Reserves and trading need honest uncertainty — wide when skies are mixed, tight when clear.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it: TSOs and DSOs (reserve sizing), balance-responsible parties and aggregators (bidding), and grids in emerging solar markets that lack a TSO-grade forecaster.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ideas, one daily forecast</a:t>
            </a:r>
            <a:endParaRPr lang="en-US" sz="2600" dirty="0"/>
          </a:p>
        </p:txBody>
      </p:sp>
      <p:sp>
        <p:nvSpPr>
          <p:cNvPr id="3" name="pillar 1"/>
          <p:cNvSpPr/>
          <p:nvPr/>
        </p:nvSpPr>
        <p:spPr>
          <a:xfrm>
            <a:off x="548640" y="137160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weather models, not one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ICON, GFS, ARPEGE/AROME, ECMWF IFS, HARMONIE (KNMI, DMI), GEM and ECMWF's AI model AIFS — combined per province and weighted by installed PV. Their disagreement is a feature.</a:t>
            </a:r>
            <a:endParaRPr lang="en-US" sz="1500" dirty="0"/>
          </a:p>
        </p:txBody>
      </p:sp>
      <p:sp>
        <p:nvSpPr>
          <p:cNvPr id="8" name="pillar 2"/>
          <p:cNvSpPr/>
          <p:nvPr/>
        </p:nvSpPr>
        <p:spPr>
          <a:xfrm>
            <a:off x="4297680" y="137160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4572000" y="164592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Bands you can trust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3832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quantile regression (P10/P50/P90) + Mondrian conformal calibration per sun-elevation regime: the 80 % band covers ~80 % of hours at dawn, noon and dusk.</a:t>
            </a:r>
            <a:endParaRPr lang="en-US" sz="1500" dirty="0"/>
          </a:p>
        </p:txBody>
      </p:sp>
      <p:sp>
        <p:nvSpPr>
          <p:cNvPr id="13" name="pillar 3"/>
          <p:cNvSpPr/>
          <p:nvPr/>
        </p:nvSpPr>
        <p:spPr>
          <a:xfrm>
            <a:off x="8046720" y="137160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8321040" y="1645920"/>
            <a:ext cx="640080" cy="640080"/>
          </a:xfrm>
          <a:prstGeom prst="ellipse">
            <a:avLst/>
          </a:prstGeom>
          <a:solidFill>
            <a:srgbClr val="14171C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in public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3832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 also reads Elia's own 11:00 forecast (forecast combination). Every daily forecast is committed to git before market close and scored afterwards.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on free public data and free infrastructure (GitHub Actions + GitHub Pages).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Real, public, verifiable data — 2.5 years, hourly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Elia Open Data (ods032 / ods209 / ods210)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PV output, installed capacity, 11 provinces, 15-min; Elia's D-1 11h forecast with P10/P90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Elia Open Data Licence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Open-Meteo Previous Runs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NWP models archived at fixed 24 h / 48 h lead; GHI, direct, cloud, temperature at 11 provincial 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BY 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Energy-Charts (Fraunhofer ISE) + Elia ods134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Day-ahead and imbalance prices — impact analysis only, never model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BY 4.0 / Elia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tat hourly targets, none imputed"/>
          <p:cNvSpPr/>
          <p:nvPr/>
        </p:nvSpPr>
        <p:spPr>
          <a:xfrm>
            <a:off x="7863840" y="1325880"/>
            <a:ext cx="374904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463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22,409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0756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targets, none imputed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0.88 % missing hours dropped</a:t>
            </a:r>
            <a:endParaRPr lang="en-US" sz="1050" dirty="0"/>
          </a:p>
        </p:txBody>
      </p:sp>
      <p:sp>
        <p:nvSpPr>
          <p:cNvPr id="8" name="stat daylight hours used for scoring"/>
          <p:cNvSpPr/>
          <p:nvPr/>
        </p:nvSpPr>
        <p:spPr>
          <a:xfrm>
            <a:off x="7863840" y="3063240"/>
            <a:ext cx="374904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3200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12,273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813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daylight hours used for scoring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elevation &gt; −2°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88620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Quarter-hours → hours only when all four exist; numbers stored as text with decimal commas are parsed and validated.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fields re-labelled to the interval they describe (verified: correlation peaks at zero lag).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capacity lagged 2 days; target = capacity factor, so 33 % fleet growth does not leak.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and the no-look-ahead rule</a:t>
            </a:r>
            <a:endParaRPr lang="en-US" sz="2600" dirty="0"/>
          </a:p>
        </p:txBody>
      </p:sp>
      <p:sp>
        <p:nvSpPr>
          <p:cNvPr id="3" name="step Ingest"/>
          <p:cNvSpPr/>
          <p:nvPr/>
        </p:nvSpPr>
        <p:spPr>
          <a:xfrm>
            <a:off x="548640" y="141732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 + 8 NWP models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provinces, hourly</a:t>
            </a:r>
            <a:endParaRPr lang="en-US" sz="1250" dirty="0"/>
          </a:p>
        </p:txBody>
      </p:sp>
      <p:sp>
        <p:nvSpPr>
          <p:cNvPr id="6" name="arrow 0"/>
          <p:cNvSpPr/>
          <p:nvPr/>
        </p:nvSpPr>
        <p:spPr>
          <a:xfrm rot="5400000">
            <a:off x="2624328" y="2514600"/>
            <a:ext cx="155448" cy="201168"/>
          </a:xfrm>
          <a:prstGeom prst="rtTriangl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step Features"/>
          <p:cNvSpPr/>
          <p:nvPr/>
        </p:nvSpPr>
        <p:spPr>
          <a:xfrm>
            <a:off x="2798064" y="141732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01168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capacity-weighted irradiance, clear-sky index (pvlib), POA, model spread, spatial dispersion, trailing performance ratio</a:t>
            </a:r>
            <a:endParaRPr lang="en-US" sz="1250" dirty="0"/>
          </a:p>
        </p:txBody>
      </p:sp>
      <p:sp>
        <p:nvSpPr>
          <p:cNvPr id="10" name="arrow 1"/>
          <p:cNvSpPr/>
          <p:nvPr/>
        </p:nvSpPr>
        <p:spPr>
          <a:xfrm rot="5400000">
            <a:off x="4873752" y="2514600"/>
            <a:ext cx="155448" cy="201168"/>
          </a:xfrm>
          <a:prstGeom prst="rtTriangl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tep Model"/>
          <p:cNvSpPr/>
          <p:nvPr/>
        </p:nvSpPr>
        <p:spPr>
          <a:xfrm>
            <a:off x="5047488" y="141732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30368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30368" y="201168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quantiles P10/P50/P90 (+ Elia 11h in Hybrid)</a:t>
            </a:r>
            <a:endParaRPr lang="en-US" sz="1250" dirty="0"/>
          </a:p>
        </p:txBody>
      </p:sp>
      <p:sp>
        <p:nvSpPr>
          <p:cNvPr id="14" name="arrow 2"/>
          <p:cNvSpPr/>
          <p:nvPr/>
        </p:nvSpPr>
        <p:spPr>
          <a:xfrm rot="5400000">
            <a:off x="7123176" y="2514600"/>
            <a:ext cx="155448" cy="201168"/>
          </a:xfrm>
          <a:prstGeom prst="rtTriangl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tep Calibrate"/>
          <p:cNvSpPr/>
          <p:nvPr/>
        </p:nvSpPr>
        <p:spPr>
          <a:xfrm>
            <a:off x="7296912" y="141732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79792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479792" y="201168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Mondrian conformal per sun-elevation regime, last 60 days</a:t>
            </a:r>
            <a:endParaRPr lang="en-US" sz="1250" dirty="0"/>
          </a:p>
        </p:txBody>
      </p:sp>
      <p:sp>
        <p:nvSpPr>
          <p:cNvPr id="18" name="arrow 3"/>
          <p:cNvSpPr/>
          <p:nvPr/>
        </p:nvSpPr>
        <p:spPr>
          <a:xfrm rot="5400000">
            <a:off x="9372600" y="2514600"/>
            <a:ext cx="155448" cy="201168"/>
          </a:xfrm>
          <a:prstGeom prst="rtTriangl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tep Deliver"/>
          <p:cNvSpPr/>
          <p:nvPr/>
        </p:nvSpPr>
        <p:spPr>
          <a:xfrm>
            <a:off x="9546336" y="141732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29216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729216" y="201168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 10:30 UTC → append-only log → dashboard</a:t>
            </a:r>
            <a:endParaRPr lang="en-US" sz="1250" dirty="0"/>
          </a:p>
        </p:txBody>
      </p:sp>
      <p:sp>
        <p:nvSpPr>
          <p:cNvPr id="22" name="rules"/>
          <p:cNvSpPr/>
          <p:nvPr/>
        </p:nvSpPr>
        <p:spPr>
          <a:xfrm>
            <a:off x="548640" y="4069080"/>
            <a:ext cx="11094415" cy="2148840"/>
          </a:xfrm>
          <a:prstGeom prst="roundRect">
            <a:avLst>
              <a:gd name="adj" fmla="val 51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 rules (unit-tested)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617720"/>
            <a:ext cx="105457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setting uses weather runs issued 48 h before each hour — all available before Elia's D-1 11:00 forecast.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Rolling-origin backtest: refit every month, predict the next unseen month (19 months, 575 days).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scored on the identical set of daylight hours; significance by Diebold–Mariano + block bootstrap.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Ties the grid operator on accuracy, beats it on uncertainty</a:t>
            </a:r>
            <a:endParaRPr lang="en-US" sz="2600" dirty="0"/>
          </a:p>
        </p:txBody>
      </p:sp>
      <p:sp>
        <p:nvSpPr>
          <p:cNvPr id="3" name="stat Hybrid nMAE (strict) — Elia 2.87 %"/>
          <p:cNvSpPr/>
          <p:nvPr/>
        </p:nvSpPr>
        <p:spPr>
          <a:xfrm>
            <a:off x="548640" y="13258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2.88 %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75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nMAE (strict) — Elia 2.87 %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inputs: 2.74 % vs 2.87 %</a:t>
            </a:r>
            <a:endParaRPr lang="en-US" sz="1050" dirty="0"/>
          </a:p>
        </p:txBody>
      </p:sp>
      <p:sp>
        <p:nvSpPr>
          <p:cNvPr id="7" name="stat narrower 80 % band than Elia's P10–P90"/>
          <p:cNvSpPr/>
          <p:nvPr/>
        </p:nvSpPr>
        <p:spPr>
          <a:xfrm>
            <a:off x="4297680" y="13258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463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075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narrower 80 % band than Elia's P10–P90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81.2 % vs 80.0 %</a:t>
            </a:r>
            <a:endParaRPr lang="en-US" sz="1050" dirty="0"/>
          </a:p>
        </p:txBody>
      </p:sp>
      <p:sp>
        <p:nvSpPr>
          <p:cNvPr id="11" name="stat better Winkler interval score than Elia"/>
          <p:cNvSpPr/>
          <p:nvPr/>
        </p:nvSpPr>
        <p:spPr>
          <a:xfrm>
            <a:off x="8046720" y="1325880"/>
            <a:ext cx="3593592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6304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10.4 %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07568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Winkler interval score than Elia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56032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pinball 0.919 vs 0.969</a:t>
            </a:r>
            <a:endParaRPr lang="en-US" sz="10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3154680"/>
          <a:ext cx="67665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7543800" y="324612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Weather-only Penumbra, from free data alone: 3.50 % (strict) / 3.08 % (optimistic) — 55 % better than persistence.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vs Elia on point error: −0.2 % (strict, DM p = 0.98) and +4.6 % (optimistic, p = 0.01).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 is in uncertainty: same coverage, much tighter bands → less reserve held for the same risk.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holds in every sky regime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720840" y="1280160"/>
          <a:ext cx="4937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349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 are defined from the forecast clear-sky index (known in advance). Elia's band is far too narrow when overcast and too wide when the sky is mixed; conformal calibration keeps Penumbra at or above 80 % in every regime while its average band is 8.9 % of capacity vs 12.5 %.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across 19 out-of-sample months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7607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492240" y="1280160"/>
          <a:ext cx="51663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improvement is worth</a:t>
            </a:r>
            <a:endParaRPr lang="en-US" sz="2600" dirty="0"/>
          </a:p>
        </p:txBody>
      </p:sp>
      <p:sp>
        <p:nvSpPr>
          <p:cNvPr id="3" name="stat narrower average 80 % band"/>
          <p:cNvSpPr/>
          <p:nvPr/>
        </p:nvSpPr>
        <p:spPr>
          <a:xfrm>
            <a:off x="548640" y="13258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 MW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75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narrower average 80 % band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today's 12.1 GW, same coverage</a:t>
            </a:r>
            <a:endParaRPr lang="en-US" sz="1050" dirty="0"/>
          </a:p>
        </p:txBody>
      </p:sp>
      <p:sp>
        <p:nvSpPr>
          <p:cNvPr id="7" name="stat imbalance cost of forecast error"/>
          <p:cNvSpPr/>
          <p:nvPr/>
        </p:nvSpPr>
        <p:spPr>
          <a:xfrm>
            <a:off x="4297680" y="13258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463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7.45 €/MWh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075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cost of forecast error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Elia's forecast: 7.71 €/MWh</a:t>
            </a:r>
            <a:endParaRPr lang="en-US" sz="1050" dirty="0"/>
          </a:p>
        </p:txBody>
      </p:sp>
      <p:sp>
        <p:nvSpPr>
          <p:cNvPr id="11" name="stat lower imbalance settlement"/>
          <p:cNvSpPr/>
          <p:nvPr/>
        </p:nvSpPr>
        <p:spPr>
          <a:xfrm>
            <a:off x="8046720" y="1325880"/>
            <a:ext cx="3593592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6304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M€/yr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07568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imbalance settlement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56032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fleet, price-taker illustration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46120"/>
            <a:ext cx="110944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sizing: a TSO dimensions upward/downward reserve from forecast uncertainty — a band that is narrower at equal coverage is directly less capacity held idle (mostly gas).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Trading: a balance-responsible party can bid the quantile that minimises its expected imbalance cost instead of a single number.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the P99 hourly over-forecast is 79 MW worse than Elia's — concentrated in negative-price hours when PV is curtailed.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are explicit (price-taker, hourly settlement); figures are orders of magnitude, not a market simulation.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Feasible today, portable tomorrow</a:t>
            </a:r>
            <a:endParaRPr lang="en-US" sz="2600" dirty="0"/>
          </a:p>
        </p:txBody>
      </p:sp>
      <p:sp>
        <p:nvSpPr>
          <p:cNvPr id="3" name="feasibility"/>
          <p:cNvSpPr/>
          <p:nvPr/>
        </p:nvSpPr>
        <p:spPr>
          <a:xfrm>
            <a:off x="548640" y="132588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in production now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GitHub Action issues tomorrow's forecast at 10:30 UTC, before the 12:00 CET gate.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forecast log, scored automatically when Elia publishes actuals.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dashboard on GitHub Pages: no server, no cost, no API keys.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backtest reproduces in ~10 minutes on a laptop (download ~15 min).</a:t>
            </a:r>
            <a:endParaRPr lang="en-US" sz="1450" dirty="0"/>
          </a:p>
        </p:txBody>
      </p:sp>
      <p:sp>
        <p:nvSpPr>
          <p:cNvPr id="6" name="portability"/>
          <p:cNvSpPr/>
          <p:nvPr/>
        </p:nvSpPr>
        <p:spPr>
          <a:xfrm>
            <a:off x="6263640" y="132588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Portable to data-scarce grids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01168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Weather-only mode needs just a production history and free global NWP — no TSO forecast.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Peru's southern solar hub (Arequipa, Moquegua, Tacna) sits under the world's highest irradiance; COES dispatch data can replace Elia's.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Capacity-factor target and per-region weighting carry over to any fleet size.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per-province forecasts for DSOs, intraday updates, curtailment-aware features from price forecasts.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and verifiable track record</a:t>
            </a:r>
            <a:endParaRPr lang="en-US" sz="2600" dirty="0"/>
          </a:p>
        </p:txBody>
      </p:sp>
      <p:pic>
        <p:nvPicPr>
          <p:cNvPr id="3" name="Image 0" descr="Penumbra dashboard screensho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6766560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589520" y="1371600"/>
            <a:ext cx="4069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fan chart with P10–P90 band next to Elia's forecast.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record: daily error vs Elia, coverage, issue timestamps.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Backtest: method comparison, monthly skill, calibration, significance tests.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Explorer: any of the backtest days, with shortcuts to the hardest ones.</a:t>
            </a:r>
            <a:endParaRPr lang="en-US" sz="1450" dirty="0"/>
          </a:p>
        </p:txBody>
      </p:sp>
      <p:sp>
        <p:nvSpPr>
          <p:cNvPr id="5" name="Text 2"/>
          <p:cNvSpPr txBox="1"/>
          <p:nvPr/>
        </p:nvSpPr>
        <p:spPr>
          <a:xfrm>
            <a:off x="7589520" y="4754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5029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https://skkippie.me/penumbra-solar-forecast/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5440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5715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https://github.com/S-kkipie/penumbra-solar-forecast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Limits, responsible use and team</a:t>
            </a:r>
            <a:endParaRPr lang="en-US" sz="2600" dirty="0"/>
          </a:p>
        </p:txBody>
      </p:sp>
      <p:sp>
        <p:nvSpPr>
          <p:cNvPr id="3" name="limits"/>
          <p:cNvSpPr/>
          <p:nvPr/>
        </p:nvSpPr>
        <p:spPr>
          <a:xfrm>
            <a:off x="548640" y="132588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Elia's upscaled estimate of the fleet, not metered totals.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Market-driven curtailment at negative prices is only proxied (weekend/holiday flag, trailing ratio).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depends on weather-run freshness: 48 h- vs 24 h-old runs cost 0.4 pp nMAE (weather-only).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aggregate only; per-province models are future work.</a:t>
            </a:r>
            <a:endParaRPr lang="en-US" sz="1450" dirty="0"/>
          </a:p>
        </p:txBody>
      </p:sp>
      <p:sp>
        <p:nvSpPr>
          <p:cNvPr id="6" name="responsible"/>
          <p:cNvSpPr/>
          <p:nvPr/>
        </p:nvSpPr>
        <p:spPr>
          <a:xfrm>
            <a:off x="6263640" y="132588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data use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9659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Aggregate, non-personal public data under open licences; all sources credited; claims reproducible from the repo; no result is reported without its benchmark and confidence interval.</a:t>
            </a:r>
            <a:endParaRPr lang="en-US" sz="1400" dirty="0"/>
          </a:p>
        </p:txBody>
      </p:sp>
      <p:sp>
        <p:nvSpPr>
          <p:cNvPr id="9" name="team"/>
          <p:cNvSpPr/>
          <p:nvPr/>
        </p:nvSpPr>
        <p:spPr>
          <a:xfrm>
            <a:off x="6263640" y="379476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3977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4348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Issac Mamani Quispe (Arequipa, Peru) — full-stack / AI engineer: problem framing, data pipeline, modelling, evaluation, live system, dashboard and documentation.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numbra">
  <a:themeElements>
    <a:clrScheme name="Penumbra">
      <a:dk1>
        <a:srgbClr val="14171C"/>
      </a:dk1>
      <a:lt1>
        <a:srgbClr val="FFFFFF"/>
      </a:lt1>
      <a:dk2>
        <a:srgbClr val="2B313A"/>
      </a:dk2>
      <a:lt2>
        <a:srgbClr val="F3F4F6"/>
      </a:lt2>
      <a:accent1>
        <a:srgbClr val="2A78D6"/>
      </a:accent1>
      <a:accent2>
        <a:srgbClr val="EB6834"/>
      </a:accent2>
      <a:accent3>
        <a:srgbClr val="EDA100"/>
      </a:accent3>
      <a:accent4>
        <a:srgbClr val="1BAF7A"/>
      </a:accent4>
      <a:accent5>
        <a:srgbClr val="6B7280"/>
      </a:accent5>
      <a:accent6>
        <a:srgbClr val="D03B3B"/>
      </a:accent6>
      <a:hlink>
        <a:srgbClr val="2A78D6"/>
      </a:hlink>
      <a:folHlink>
        <a:srgbClr val="4A3AA7"/>
      </a:folHlink>
    </a:clrScheme>
    <a:fontScheme name="Penumbr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Penumbra — DataNova 2026</dc:title>
  <dc:subject>DN-SU-01 Solar Energy Generation Forecasting</dc:subject>
  <dc:creator>Adrian Issac Mamani Quispe</dc:creator>
  <cp:lastModifiedBy>Adrian Issac Mamani Quispe</cp:lastModifiedBy>
  <cp:revision>1</cp:revision>
  <dcterms:created xsi:type="dcterms:W3CDTF">2026-10-30T07:03:11Z</dcterms:created>
  <dcterms:modified xsi:type="dcterms:W3CDTF">2026-10-30T07:03:11Z</dcterms:modified>
</cp:coreProperties>
</file>